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516" cy="6858000"/>
          </a:xfrm>
          <a:prstGeom prst="rect">
            <a:avLst/>
          </a:prstGeom>
          <a:solidFill>
            <a:srgbClr val="E4F4EC"/>
          </a:solidFill>
          <a:ln/>
        </p:spPr>
      </p:sp>
      <p:sp>
        <p:nvSpPr>
          <p:cNvPr id="3" name="Shape 1"/>
          <p:cNvSpPr/>
          <p:nvPr/>
        </p:nvSpPr>
        <p:spPr>
          <a:xfrm>
            <a:off x="277084" y="0"/>
            <a:ext cx="304516" cy="6858000"/>
          </a:xfrm>
          <a:prstGeom prst="rect">
            <a:avLst/>
          </a:prstGeom>
          <a:solidFill>
            <a:srgbClr val="E5F5ED"/>
          </a:solidFill>
          <a:ln/>
        </p:spPr>
      </p:sp>
      <p:sp>
        <p:nvSpPr>
          <p:cNvPr id="4" name="Shape 2"/>
          <p:cNvSpPr/>
          <p:nvPr/>
        </p:nvSpPr>
        <p:spPr>
          <a:xfrm>
            <a:off x="554168" y="0"/>
            <a:ext cx="304516" cy="6858000"/>
          </a:xfrm>
          <a:prstGeom prst="rect">
            <a:avLst/>
          </a:prstGeom>
          <a:solidFill>
            <a:srgbClr val="E7F5EE"/>
          </a:solidFill>
          <a:ln/>
        </p:spPr>
      </p:sp>
      <p:sp>
        <p:nvSpPr>
          <p:cNvPr id="5" name="Shape 3"/>
          <p:cNvSpPr/>
          <p:nvPr/>
        </p:nvSpPr>
        <p:spPr>
          <a:xfrm>
            <a:off x="831252" y="0"/>
            <a:ext cx="304516" cy="6858000"/>
          </a:xfrm>
          <a:prstGeom prst="rect">
            <a:avLst/>
          </a:prstGeom>
          <a:solidFill>
            <a:srgbClr val="E8F6EF"/>
          </a:solidFill>
          <a:ln/>
        </p:spPr>
      </p:sp>
      <p:sp>
        <p:nvSpPr>
          <p:cNvPr id="6" name="Shape 4"/>
          <p:cNvSpPr/>
          <p:nvPr/>
        </p:nvSpPr>
        <p:spPr>
          <a:xfrm>
            <a:off x="1108336" y="0"/>
            <a:ext cx="304516" cy="6858000"/>
          </a:xfrm>
          <a:prstGeom prst="rect">
            <a:avLst/>
          </a:prstGeom>
          <a:solidFill>
            <a:srgbClr val="E9F6F0"/>
          </a:solidFill>
          <a:ln/>
        </p:spPr>
      </p:sp>
      <p:sp>
        <p:nvSpPr>
          <p:cNvPr id="7" name="Shape 5"/>
          <p:cNvSpPr/>
          <p:nvPr/>
        </p:nvSpPr>
        <p:spPr>
          <a:xfrm>
            <a:off x="1385420" y="0"/>
            <a:ext cx="304516" cy="6858000"/>
          </a:xfrm>
          <a:prstGeom prst="rect">
            <a:avLst/>
          </a:prstGeom>
          <a:solidFill>
            <a:srgbClr val="EAF7F0"/>
          </a:solidFill>
          <a:ln/>
        </p:spPr>
      </p:sp>
      <p:sp>
        <p:nvSpPr>
          <p:cNvPr id="8" name="Shape 6"/>
          <p:cNvSpPr/>
          <p:nvPr/>
        </p:nvSpPr>
        <p:spPr>
          <a:xfrm>
            <a:off x="1662504" y="0"/>
            <a:ext cx="304516" cy="6858000"/>
          </a:xfrm>
          <a:prstGeom prst="rect">
            <a:avLst/>
          </a:prstGeom>
          <a:solidFill>
            <a:srgbClr val="ECF7F1"/>
          </a:solidFill>
          <a:ln/>
        </p:spPr>
      </p:sp>
      <p:sp>
        <p:nvSpPr>
          <p:cNvPr id="9" name="Shape 7"/>
          <p:cNvSpPr/>
          <p:nvPr/>
        </p:nvSpPr>
        <p:spPr>
          <a:xfrm>
            <a:off x="1939588" y="0"/>
            <a:ext cx="304516" cy="6858000"/>
          </a:xfrm>
          <a:prstGeom prst="rect">
            <a:avLst/>
          </a:prstGeom>
          <a:solidFill>
            <a:srgbClr val="EDF8F2"/>
          </a:solidFill>
          <a:ln/>
        </p:spPr>
      </p:sp>
      <p:sp>
        <p:nvSpPr>
          <p:cNvPr id="10" name="Shape 8"/>
          <p:cNvSpPr/>
          <p:nvPr/>
        </p:nvSpPr>
        <p:spPr>
          <a:xfrm>
            <a:off x="2216672" y="0"/>
            <a:ext cx="304516" cy="6858000"/>
          </a:xfrm>
          <a:prstGeom prst="rect">
            <a:avLst/>
          </a:prstGeom>
          <a:solidFill>
            <a:srgbClr val="EEF8F3"/>
          </a:solidFill>
          <a:ln/>
        </p:spPr>
      </p:sp>
      <p:sp>
        <p:nvSpPr>
          <p:cNvPr id="11" name="Shape 9"/>
          <p:cNvSpPr/>
          <p:nvPr/>
        </p:nvSpPr>
        <p:spPr>
          <a:xfrm>
            <a:off x="2493756" y="0"/>
            <a:ext cx="304516" cy="6858000"/>
          </a:xfrm>
          <a:prstGeom prst="rect">
            <a:avLst/>
          </a:prstGeom>
          <a:solidFill>
            <a:srgbClr val="EFF9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770840" y="0"/>
            <a:ext cx="304516" cy="6858000"/>
          </a:xfrm>
          <a:prstGeom prst="rect">
            <a:avLst/>
          </a:prstGeom>
          <a:solidFill>
            <a:srgbClr val="F1F9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7924" y="0"/>
            <a:ext cx="304516" cy="6858000"/>
          </a:xfrm>
          <a:prstGeom prst="rect">
            <a:avLst/>
          </a:prstGeom>
          <a:solidFill>
            <a:srgbClr val="F2FA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325008" y="0"/>
            <a:ext cx="304516" cy="6858000"/>
          </a:xfrm>
          <a:prstGeom prst="rect">
            <a:avLst/>
          </a:prstGeom>
          <a:solidFill>
            <a:srgbClr val="F3FA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02092" y="0"/>
            <a:ext cx="304516" cy="6858000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16" name="Shape 14"/>
          <p:cNvSpPr/>
          <p:nvPr/>
        </p:nvSpPr>
        <p:spPr>
          <a:xfrm>
            <a:off x="3879176" y="0"/>
            <a:ext cx="304516" cy="6858000"/>
          </a:xfrm>
          <a:prstGeom prst="rect">
            <a:avLst/>
          </a:prstGeom>
          <a:solidFill>
            <a:srgbClr val="F6FB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156260" y="0"/>
            <a:ext cx="304516" cy="6858000"/>
          </a:xfrm>
          <a:prstGeom prst="rect">
            <a:avLst/>
          </a:prstGeom>
          <a:solidFill>
            <a:srgbClr val="F7FC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3344" y="0"/>
            <a:ext cx="304516" cy="6858000"/>
          </a:xfrm>
          <a:prstGeom prst="rect">
            <a:avLst/>
          </a:prstGeom>
          <a:solidFill>
            <a:srgbClr val="F8FC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710428" y="0"/>
            <a:ext cx="304516" cy="6858000"/>
          </a:xfrm>
          <a:prstGeom prst="rect">
            <a:avLst/>
          </a:prstGeom>
          <a:solidFill>
            <a:srgbClr val="F9FD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987512" y="0"/>
            <a:ext cx="304516" cy="6858000"/>
          </a:xfrm>
          <a:prstGeom prst="rect">
            <a:avLst/>
          </a:prstGeom>
          <a:solidFill>
            <a:srgbClr val="FBFDFC"/>
          </a:solidFill>
          <a:ln/>
        </p:spPr>
      </p:sp>
      <p:sp>
        <p:nvSpPr>
          <p:cNvPr id="21" name="Shape 19"/>
          <p:cNvSpPr/>
          <p:nvPr/>
        </p:nvSpPr>
        <p:spPr>
          <a:xfrm>
            <a:off x="5264596" y="0"/>
            <a:ext cx="304516" cy="6858000"/>
          </a:xfrm>
          <a:prstGeom prst="rect">
            <a:avLst/>
          </a:prstGeom>
          <a:solidFill>
            <a:srgbClr val="FCFEFD"/>
          </a:solidFill>
          <a:ln/>
        </p:spPr>
      </p:sp>
      <p:sp>
        <p:nvSpPr>
          <p:cNvPr id="22" name="Shape 20"/>
          <p:cNvSpPr/>
          <p:nvPr/>
        </p:nvSpPr>
        <p:spPr>
          <a:xfrm>
            <a:off x="5541680" y="0"/>
            <a:ext cx="304516" cy="6858000"/>
          </a:xfrm>
          <a:prstGeom prst="rect">
            <a:avLst/>
          </a:prstGeom>
          <a:solidFill>
            <a:srgbClr val="FDFEFE"/>
          </a:solidFill>
          <a:ln/>
        </p:spPr>
      </p:sp>
      <p:sp>
        <p:nvSpPr>
          <p:cNvPr id="23" name="Shape 21"/>
          <p:cNvSpPr/>
          <p:nvPr/>
        </p:nvSpPr>
        <p:spPr>
          <a:xfrm>
            <a:off x="5818764" y="0"/>
            <a:ext cx="304516" cy="6858000"/>
          </a:xfrm>
          <a:prstGeom prst="rect">
            <a:avLst/>
          </a:prstGeom>
          <a:solidFill>
            <a:srgbClr val="FE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48" y="0"/>
            <a:ext cx="304516" cy="6858000"/>
          </a:xfrm>
          <a:prstGeom prst="rect">
            <a:avLst/>
          </a:prstGeom>
          <a:solidFill>
            <a:srgbClr val="FFFFF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2932" y="0"/>
            <a:ext cx="304516" cy="6858000"/>
          </a:xfrm>
          <a:prstGeom prst="rect">
            <a:avLst/>
          </a:prstGeom>
          <a:solidFill>
            <a:srgbClr val="FFFEFD"/>
          </a:solidFill>
          <a:ln/>
        </p:spPr>
      </p:sp>
      <p:sp>
        <p:nvSpPr>
          <p:cNvPr id="26" name="Shape 24"/>
          <p:cNvSpPr/>
          <p:nvPr/>
        </p:nvSpPr>
        <p:spPr>
          <a:xfrm>
            <a:off x="6650016" y="0"/>
            <a:ext cx="304516" cy="6858000"/>
          </a:xfrm>
          <a:prstGeom prst="rect">
            <a:avLst/>
          </a:prstGeom>
          <a:solidFill>
            <a:srgbClr val="FFFDFC"/>
          </a:solidFill>
          <a:ln/>
        </p:spPr>
      </p:sp>
      <p:sp>
        <p:nvSpPr>
          <p:cNvPr id="27" name="Shape 25"/>
          <p:cNvSpPr/>
          <p:nvPr/>
        </p:nvSpPr>
        <p:spPr>
          <a:xfrm>
            <a:off x="6927100" y="0"/>
            <a:ext cx="304516" cy="6858000"/>
          </a:xfrm>
          <a:prstGeom prst="rect">
            <a:avLst/>
          </a:prstGeom>
          <a:solidFill>
            <a:srgbClr val="FFFC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204184" y="0"/>
            <a:ext cx="304516" cy="6858000"/>
          </a:xfrm>
          <a:prstGeom prst="rect">
            <a:avLst/>
          </a:prstGeom>
          <a:solidFill>
            <a:srgbClr val="FFFBF9"/>
          </a:solidFill>
          <a:ln/>
        </p:spPr>
      </p:sp>
      <p:sp>
        <p:nvSpPr>
          <p:cNvPr id="29" name="Shape 27"/>
          <p:cNvSpPr/>
          <p:nvPr/>
        </p:nvSpPr>
        <p:spPr>
          <a:xfrm>
            <a:off x="7481268" y="0"/>
            <a:ext cx="304516" cy="6858000"/>
          </a:xfrm>
          <a:prstGeom prst="rect">
            <a:avLst/>
          </a:prstGeom>
          <a:solidFill>
            <a:srgbClr val="FEFA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758351" y="0"/>
            <a:ext cx="304516" cy="6858000"/>
          </a:xfrm>
          <a:prstGeom prst="rect">
            <a:avLst/>
          </a:prstGeom>
          <a:solidFill>
            <a:srgbClr val="FEFAF6"/>
          </a:solidFill>
          <a:ln/>
        </p:spPr>
      </p:sp>
      <p:sp>
        <p:nvSpPr>
          <p:cNvPr id="31" name="Shape 29"/>
          <p:cNvSpPr/>
          <p:nvPr/>
        </p:nvSpPr>
        <p:spPr>
          <a:xfrm>
            <a:off x="8035435" y="0"/>
            <a:ext cx="304516" cy="6858000"/>
          </a:xfrm>
          <a:prstGeom prst="rect">
            <a:avLst/>
          </a:prstGeom>
          <a:solidFill>
            <a:srgbClr val="FEF9F5"/>
          </a:solidFill>
          <a:ln/>
        </p:spPr>
      </p:sp>
      <p:sp>
        <p:nvSpPr>
          <p:cNvPr id="32" name="Shape 30"/>
          <p:cNvSpPr/>
          <p:nvPr/>
        </p:nvSpPr>
        <p:spPr>
          <a:xfrm>
            <a:off x="8312519" y="0"/>
            <a:ext cx="304516" cy="6858000"/>
          </a:xfrm>
          <a:prstGeom prst="rect">
            <a:avLst/>
          </a:prstGeom>
          <a:solidFill>
            <a:srgbClr val="FEF8F4"/>
          </a:solidFill>
          <a:ln/>
        </p:spPr>
      </p:sp>
      <p:sp>
        <p:nvSpPr>
          <p:cNvPr id="33" name="Shape 31"/>
          <p:cNvSpPr/>
          <p:nvPr/>
        </p:nvSpPr>
        <p:spPr>
          <a:xfrm>
            <a:off x="8589603" y="0"/>
            <a:ext cx="304516" cy="6858000"/>
          </a:xfrm>
          <a:prstGeom prst="rect">
            <a:avLst/>
          </a:prstGeom>
          <a:solidFill>
            <a:srgbClr val="FEF7F2"/>
          </a:solidFill>
          <a:ln/>
        </p:spPr>
      </p:sp>
      <p:sp>
        <p:nvSpPr>
          <p:cNvPr id="34" name="Shape 32"/>
          <p:cNvSpPr/>
          <p:nvPr/>
        </p:nvSpPr>
        <p:spPr>
          <a:xfrm>
            <a:off x="8866687" y="0"/>
            <a:ext cx="304516" cy="6858000"/>
          </a:xfrm>
          <a:prstGeom prst="rect">
            <a:avLst/>
          </a:prstGeom>
          <a:solidFill>
            <a:srgbClr val="FEF6F1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3771" y="0"/>
            <a:ext cx="304516" cy="6858000"/>
          </a:xfrm>
          <a:prstGeom prst="rect">
            <a:avLst/>
          </a:prstGeom>
          <a:solidFill>
            <a:srgbClr val="FEF5EF"/>
          </a:solidFill>
          <a:ln/>
        </p:spPr>
      </p:sp>
      <p:sp>
        <p:nvSpPr>
          <p:cNvPr id="36" name="Shape 34"/>
          <p:cNvSpPr/>
          <p:nvPr/>
        </p:nvSpPr>
        <p:spPr>
          <a:xfrm>
            <a:off x="9420855" y="0"/>
            <a:ext cx="304516" cy="6858000"/>
          </a:xfrm>
          <a:prstGeom prst="rect">
            <a:avLst/>
          </a:prstGeom>
          <a:solidFill>
            <a:srgbClr val="FEF5EE"/>
          </a:solidFill>
          <a:ln/>
        </p:spPr>
      </p:sp>
      <p:sp>
        <p:nvSpPr>
          <p:cNvPr id="37" name="Shape 35"/>
          <p:cNvSpPr/>
          <p:nvPr/>
        </p:nvSpPr>
        <p:spPr>
          <a:xfrm>
            <a:off x="9697939" y="0"/>
            <a:ext cx="304516" cy="6858000"/>
          </a:xfrm>
          <a:prstGeom prst="rect">
            <a:avLst/>
          </a:prstGeom>
          <a:solidFill>
            <a:srgbClr val="FEF4ED"/>
          </a:solidFill>
          <a:ln/>
        </p:spPr>
      </p:sp>
      <p:sp>
        <p:nvSpPr>
          <p:cNvPr id="38" name="Shape 36"/>
          <p:cNvSpPr/>
          <p:nvPr/>
        </p:nvSpPr>
        <p:spPr>
          <a:xfrm>
            <a:off x="9975023" y="0"/>
            <a:ext cx="304516" cy="6858000"/>
          </a:xfrm>
          <a:prstGeom prst="rect">
            <a:avLst/>
          </a:prstGeom>
          <a:solidFill>
            <a:srgbClr val="FEF3E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52107" y="0"/>
            <a:ext cx="304516" cy="6858000"/>
          </a:xfrm>
          <a:prstGeom prst="rect">
            <a:avLst/>
          </a:prstGeom>
          <a:solidFill>
            <a:srgbClr val="FEF2E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29191" y="0"/>
            <a:ext cx="304516" cy="6858000"/>
          </a:xfrm>
          <a:prstGeom prst="rect">
            <a:avLst/>
          </a:prstGeom>
          <a:solidFill>
            <a:srgbClr val="FDF1E9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06275" y="0"/>
            <a:ext cx="304516" cy="6858000"/>
          </a:xfrm>
          <a:prstGeom prst="rect">
            <a:avLst/>
          </a:prstGeom>
          <a:solidFill>
            <a:srgbClr val="FDF0E7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83359" y="0"/>
            <a:ext cx="304516" cy="6858000"/>
          </a:xfrm>
          <a:prstGeom prst="rect">
            <a:avLst/>
          </a:prstGeom>
          <a:solidFill>
            <a:srgbClr val="FDF0E6"/>
          </a:solidFill>
          <a:ln/>
        </p:spPr>
      </p:sp>
      <p:sp>
        <p:nvSpPr>
          <p:cNvPr id="43" name="Shape 41"/>
          <p:cNvSpPr/>
          <p:nvPr/>
        </p:nvSpPr>
        <p:spPr>
          <a:xfrm>
            <a:off x="11360443" y="0"/>
            <a:ext cx="304516" cy="6858000"/>
          </a:xfrm>
          <a:prstGeom prst="rect">
            <a:avLst/>
          </a:prstGeom>
          <a:solidFill>
            <a:srgbClr val="FDEFE5"/>
          </a:solidFill>
          <a:ln/>
        </p:spPr>
      </p:sp>
      <p:sp>
        <p:nvSpPr>
          <p:cNvPr id="44" name="Shape 42"/>
          <p:cNvSpPr/>
          <p:nvPr/>
        </p:nvSpPr>
        <p:spPr>
          <a:xfrm>
            <a:off x="11637527" y="0"/>
            <a:ext cx="304516" cy="6858000"/>
          </a:xfrm>
          <a:prstGeom prst="rect">
            <a:avLst/>
          </a:prstGeom>
          <a:solidFill>
            <a:srgbClr val="FD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1914611" y="0"/>
            <a:ext cx="304516" cy="6858000"/>
          </a:xfrm>
          <a:prstGeom prst="rect">
            <a:avLst/>
          </a:prstGeom>
          <a:solidFill>
            <a:srgbClr val="FDEDE2"/>
          </a:solidFill>
          <a:ln/>
        </p:spPr>
      </p:sp>
      <p:sp>
        <p:nvSpPr>
          <p:cNvPr id="46" name="Shape 44"/>
          <p:cNvSpPr/>
          <p:nvPr/>
        </p:nvSpPr>
        <p:spPr>
          <a:xfrm>
            <a:off x="822960" y="777240"/>
            <a:ext cx="2331720" cy="402336"/>
          </a:xfrm>
          <a:prstGeom prst="roundRect">
            <a:avLst>
              <a:gd name="adj" fmla="val 31818"/>
            </a:avLst>
          </a:prstGeom>
          <a:solidFill>
            <a:srgbClr val="009B4A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7772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2960" y="146304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Management: Corporate AI Training Program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822960" y="29718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វគ្គបណ្ដុះបណ្ដាល AI សម្រាប់អ្នកគ្រប់គ្រង</a:t>
            </a:r>
            <a:endParaRPr lang="en-US" sz="2300" dirty="0"/>
          </a:p>
        </p:txBody>
      </p:sp>
      <p:sp>
        <p:nvSpPr>
          <p:cNvPr id="50" name="Text 48"/>
          <p:cNvSpPr/>
          <p:nvPr/>
        </p:nvSpPr>
        <p:spPr>
          <a:xfrm>
            <a:off x="822960" y="379476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វគ្គបណ្ដុះបណ្ដាលនេះដឹកនាំដោយ AI For Business ដែលជាក្រុមហ៊ុនឯកទេសខាងការបណ្ដុះបណ្ដាល AI សម្រាប់អាជីវកម្មនៅកម្ពុជា។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ស្ថាបនាឆ្នាំ ២០២៣ ដោយផ្ដោតលើការនាំយក AI ចូលទៅក្នុងការងារគ្រប់គ្រងប្រចាំថ្ងៃរបស់ក្រុមហ៊ុន និងអង្គភាពនានា។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ជាវគ្គបណ្ដុះបណ្ដាល AI ដោយមិនចាំបាច់សរសេរកូដ សម្រាប់អ្នកគ្រប់គ្រងគ្រប់កម្រិត ដោយផ្ដោតលើការអនុវត្តជាក់ស្ដែង។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092440" y="1600200"/>
            <a:ext cx="32918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9BB8AA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321040" y="174650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 ថ្ងៃ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8321040" y="22951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វគ្គបណ្ដុះបណ្ដាលពេញមួយថ្ងៃ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092440" y="3081528"/>
            <a:ext cx="32918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9BB8AA">
                <a:alpha val="2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321040" y="32278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522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១៧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8321040" y="37764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ម៉ូឌុលអនុវត្តជាក់ស្ដែង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092440" y="4562856"/>
            <a:ext cx="32918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9BB8AA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321040" y="47091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គ្មានកូដ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8321040" y="5257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មិនតម្រូវចំណេះដឹងបច្ចេកទេស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822960" y="6144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</a:t>
            </a:r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ស្ថាបនាឆ្នាំ ២០២៣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ផលប៉ះពាល់របស់ AI លើការងារគ្រប់គ្រង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" y="1417320"/>
            <a:ext cx="4687672" cy="921258"/>
          </a:xfrm>
          <a:prstGeom prst="roundRect">
            <a:avLst>
              <a:gd name="adj" fmla="val 8933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17320"/>
            <a:ext cx="4449928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ផ្លាស់ប្ដូរវិធីគ្រប់គ្រងអាជីវកម្ម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9052" y="2384298"/>
            <a:ext cx="237744" cy="219456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" y="2649474"/>
            <a:ext cx="4687672" cy="921258"/>
          </a:xfrm>
          <a:prstGeom prst="roundRect">
            <a:avLst>
              <a:gd name="adj" fmla="val 8933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649474"/>
            <a:ext cx="4449928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សម្រេចចិត្តលឿន និងត្រឹមត្រូវ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9052" y="3616452"/>
            <a:ext cx="237744" cy="219456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3881628"/>
            <a:ext cx="4687672" cy="921258"/>
          </a:xfrm>
          <a:prstGeom prst="roundRect">
            <a:avLst>
              <a:gd name="adj" fmla="val 8933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881628"/>
            <a:ext cx="4449928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តាមទាន់គូប្រកួតប្រជែង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9052" y="4848606"/>
            <a:ext cx="237744" cy="219456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5113782"/>
            <a:ext cx="4687672" cy="921258"/>
          </a:xfrm>
          <a:prstGeom prst="roundRect">
            <a:avLst>
              <a:gd name="adj" fmla="val 8933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113782"/>
            <a:ext cx="4449928" cy="921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បង្កើនអត្ថប្រយោជន៍ប្រកួតប្រជែង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AI Matters for Managers Today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ហេតុអ្វី AI សំខាន់សម្រាប់អ្នកគ្រប់គ្រងសព្វថ្ងៃ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AI កំពុងផ្លាស់ប្ដូរវិធីធ្វើការគ្រប់គ្រងអាជីវកម្មទាំងស្រុង ចាប់ពីការរៀបចំផែនការ ការវិភាគទិន្នន័យ រហូតដល់ការទំនាក់ទំនងជាមួយក្រុមការងារ។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អ្នកគ្រប់គ្រងដែលប្រើ AI អាចប្រមូល វិភាគ និងសង្ខេបព័ត៌មានក្នុងរយៈពេលខ្លី ធ្វើឲ្យការសម្រេចចិត្តលឿន និងផ្អែកលើភស្តុតាងច្បាស់លាស់ជាងមុន។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ក្រុមហ៊ុនប្រកួតប្រជែងក្នុងទីផ្សារកំពុងប្រើប្រាស់ AI ក្នុងការងារប្រចាំថ្ងៃរួចហើយ ដូចជាការសរសេររបាយការណ៍ និងការស្រាវជ្រាវទីផ្សារ។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អ្នកគ្រប់គ្រងដែលចេះប្រើ AI ទទួលបានអត្ថប្រយោជន៍ប្រកួតប្រជែងច្បាស់លាស់ ទាំងសម្រាប់ខ្លួនឯង និងសម្រាប់ក្រុមហ៊ុនក្នុងយុគសម័យឌីជីថល។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រចនាសម្ព័ន្ធវគ្គបណ្ដុះបណ្ដាលពេញមួយថ្ងៃ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99936" y="169164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18808" y="169164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ព្រឹក ៨:០០ - ១២:០០ ម៉ូឌុលទី ១-៧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024899" y="278892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8" name="Shape 6"/>
          <p:cNvSpPr/>
          <p:nvPr/>
        </p:nvSpPr>
        <p:spPr>
          <a:xfrm>
            <a:off x="6799936" y="320040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18808" y="320040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សម្រាកអាហារថ្ងៃត្រង់ ១២:០០ - ១៣:០០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24899" y="429768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11" name="Shape 9"/>
          <p:cNvSpPr/>
          <p:nvPr/>
        </p:nvSpPr>
        <p:spPr>
          <a:xfrm>
            <a:off x="6799936" y="470916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18808" y="470916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រសៀល ១៣:០០ - ១៧:០០ ម៉ូឌុលទី ៨-១៧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Course Overview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ទិដ្ឋភាពទូទៅនៃវគ្គបណ្ដុះបណ្ដាល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231136"/>
            <a:ext cx="1471117" cy="1051560"/>
          </a:xfrm>
          <a:prstGeom prst="roundRect">
            <a:avLst>
              <a:gd name="adj" fmla="val 7826"/>
            </a:avLst>
          </a:prstGeom>
          <a:solidFill>
            <a:srgbClr val="F9FC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0864"/>
            <a:ext cx="14711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 ថ្ងៃ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" y="2852928"/>
            <a:ext cx="13613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រយៈពេលវគ្គ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12365" y="2231136"/>
            <a:ext cx="1471117" cy="1051560"/>
          </a:xfrm>
          <a:prstGeom prst="roundRect">
            <a:avLst>
              <a:gd name="adj" fmla="val 7826"/>
            </a:avLst>
          </a:prstGeom>
          <a:solidFill>
            <a:srgbClr val="F9FCFA"/>
          </a:solidFill>
          <a:ln/>
        </p:spPr>
      </p:sp>
      <p:sp>
        <p:nvSpPr>
          <p:cNvPr id="19" name="Text 17"/>
          <p:cNvSpPr/>
          <p:nvPr/>
        </p:nvSpPr>
        <p:spPr>
          <a:xfrm>
            <a:off x="2312365" y="2340864"/>
            <a:ext cx="14711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6522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១៧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367229" y="2852928"/>
            <a:ext cx="13613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ចំនួនម៉ូឌុល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84650" y="2231136"/>
            <a:ext cx="1471117" cy="1051560"/>
          </a:xfrm>
          <a:prstGeom prst="roundRect">
            <a:avLst>
              <a:gd name="adj" fmla="val 7826"/>
            </a:avLst>
          </a:prstGeom>
          <a:solidFill>
            <a:srgbClr val="F9FCFA"/>
          </a:solidFill>
          <a:ln/>
        </p:spPr>
      </p:sp>
      <p:sp>
        <p:nvSpPr>
          <p:cNvPr id="22" name="Text 20"/>
          <p:cNvSpPr/>
          <p:nvPr/>
        </p:nvSpPr>
        <p:spPr>
          <a:xfrm>
            <a:off x="3984650" y="2340864"/>
            <a:ext cx="14711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039514" y="2852928"/>
            <a:ext cx="13613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តម្រូវការសរសេរកូដ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3557016"/>
            <a:ext cx="481568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វគ្គបណ្ដុះបណ្ដាលនេះប្រព្រឹត្តទៅពេញមួយថ្ងៃ ចាប់ពីម៉ោង ៨:០០ ព្រឹក រហូតដល់ម៉ោង ៥:០០ ល្ងាច ក្នុងទម្រង់អនុវត្តជាក់ស្ដែង។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អ្នកចូលរួមមិនតម្រូវឲ្យចេះសរសេរកូដឡើយ គ្រប់ម៉ូឌុលរៀបចំសម្រាប់អ្នកគ្រប់គ្រងដែលប្រើឧបករណ៍ AI ដោយផ្ទាល់តាមរយៈការសរសេរ Prompt។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កម្មវិធីសិក្សាមានចំនួន ១៧ ម៉ូឌុល ដែលរៀនតាមរយៈការអនុវត្តលើករណីការងារពិតប្រាកដ មិនមែនត្រឹមតែទ្រឹស្ដីនោះទេ។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ក្រុមគោលដៅនៃវគ្គបណ្ដុះបណ្ដាល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84594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45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អ្នកគ្រប់គ្រងទូទៅ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100507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167781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677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2100507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ប្រធានផ្នែក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783695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850969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509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7008" y="2783695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ប្រធានក្រុម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466882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534156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34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3466882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អ្នកគ្រប់គ្រងគម្រោង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150070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217343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173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4150070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អ្នកគ្រប់គ្រងប្រតិបត្តិការ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833257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900531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9005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4833257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អ្នកគ្រោងផែនការយុទ្ធសាស្ត្រ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5516445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583718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5837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5516445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អ្នកត្រួតពិនិត្យការងារ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Who This Course Is For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វគ្គនេះសម្រាប់នរណា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វគ្គនេះរៀបចំឡើងសម្រាប់អ្នកគ្រប់គ្រងទូទៅ ប្រធានផ្នែក និងប្រធានក្រុម ដែលត្រូវដឹកនាំមនុស្ស និងសម្រេចចិត្តប្រចាំថ្ងៃក្នុងក្រុមហ៊ុន។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អ្នកគ្រប់គ្រងគម្រោង និងអ្នកគ្រប់គ្រងប្រតិបត្តិការ នឹងរៀនប្រើ AI ដើម្បីរៀបចំផែនការ តាមដានវឌ្ឍនភាព និងដោះស្រាយបញ្ហាការងារឲ្យបានលឿន។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អ្នកគ្រោងផែនការយុទ្ធសាស្ត្រ និងអ្នកត្រួតពិនិត្យការងារ ទទួលបានឧបករណ៍សម្រាប់វិភាគទិន្នន័យ និងរៀបចំរបាយការណ៍ប្រកបដោយគុណភាព។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មិនតម្រូវឲ្យមានចំណេះដឹងបច្ចេកទេស ឬបទពិសោធន៍ AI ពីមុនមកឡើយ អ្នកចូលរួមគ្រប់រូបចាប់ផ្ដើមពីមូលដ្ឋានគ្រឹះដូចគ្នា។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កាលវិភាគ និងវិធីសាស្ត្រសិក្សា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62776" y="2011680"/>
          <a:ext cx="496199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270352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ពេលវេលា</a:t>
                      </a:r>
                      <a:endParaRPr lang="en-US" sz="125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សកម្មភាព</a:t>
                      </a:r>
                      <a:endParaRPr lang="en-US" sz="125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B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82A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៨:០០ - ១២:០០</a:t>
                      </a:r>
                      <a:endParaRPr lang="en-US" sz="120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5547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ម៉ូឌុលទី ១ ដល់ ៧</a:t>
                      </a:r>
                      <a:endParaRPr lang="en-US" sz="120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82A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១២:០០ - ១៣:០០</a:t>
                      </a:r>
                      <a:endParaRPr lang="en-US" sz="120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5547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សម្រាកអាហារថ្ងៃត្រង់</a:t>
                      </a:r>
                      <a:endParaRPr lang="en-US" sz="120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82A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១៣:០០ - ១៧:០០</a:t>
                      </a:r>
                      <a:endParaRPr lang="en-US" sz="120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5547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ម៉ូឌុលទី ៨ ដល់ ១៧</a:t>
                      </a:r>
                      <a:endParaRPr lang="en-US" sz="120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382A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ពេញមួយថ្ងៃ</a:t>
                      </a:r>
                      <a:endParaRPr lang="en-US" sz="120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F5547"/>
                          </a:solidFill>
                          <a:latin typeface="Noto Sans Khmer" pitchFamily="34" charset="0"/>
                          <a:ea typeface="Noto Sans Khmer" pitchFamily="34" charset="-122"/>
                          <a:cs typeface="Noto Sans Khmer" pitchFamily="34" charset="-120"/>
                        </a:rPr>
                        <a:t>អនុវត្តផ្ទាល់លើឧបករណ៍ AI</a:t>
                      </a:r>
                      <a:endParaRPr lang="en-US" sz="1200" dirty="0">
                        <a:latin typeface="Noto Sans Khmer" charset="0"/>
                        <a:ea typeface="Noto Sans Khmer" charset="0"/>
                        <a:cs typeface="Noto Sans Khme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Course Format and Learning Approach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ទម្រង់វគ្គ និងវិធីសិក្សា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វគ្គបណ្ដុះបណ្ដាលចាប់ផ្ដើមម៉ោង ៨:០០ ព្រឹក និងបញ្ចប់ម៉ោង ៥:០០ ល្ងាច ដោយបែងចែកជាវគ្គព្រឹក និងវគ្គរសៀលដាច់ដោយឡែកពីគ្នា។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ការសម្រាកអាហារថ្ងៃត្រង់មានរយៈពេលមួយម៉ោង ចាប់ពីម៉ោង ១២:០០ ដល់ម៉ោង ១៣:០០ សម្រាប់សម្រាក និងពិភាក្សាក្រៅផ្លូវការ។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វគ្គពេលព្រឹកគ្របដណ្ដប់ម៉ូឌុលទី ១ ដល់ ៧ ចំណែកវគ្គពេលរសៀលគ្របដណ្ដប់ម៉ូឌុលទី ៨ ដល់ ១៧។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អ្នកចូលរួមសិក្សាដោយអនុវត្តផ្ទាល់លើឧបករណ៍ AI ក្នុងអំឡុងវគ្គ ដោយប្រើករណីការងារពិតរបស់ខ្លួនធ្វើជាលំហាត់។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ឧបករណ៍ AI ដែលប្រើក្នុងវគ្គបណ្ដុះបណ្ដាល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961992" cy="777240"/>
          </a:xfrm>
          <a:prstGeom prst="roundRect">
            <a:avLst>
              <a:gd name="adj" fmla="val 9412"/>
            </a:avLst>
          </a:prstGeom>
          <a:solidFill>
            <a:srgbClr val="F9FCF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57734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773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ChatGPT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41448" y="1417320"/>
            <a:ext cx="290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សរសេរ វិភាគ និងរៀបចំឯកសារ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377440"/>
            <a:ext cx="4961992" cy="777240"/>
          </a:xfrm>
          <a:prstGeom prst="roundRect">
            <a:avLst>
              <a:gd name="adj" fmla="val 9412"/>
            </a:avLst>
          </a:prstGeom>
          <a:solidFill>
            <a:srgbClr val="F9FCFA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53746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374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41448" y="2377440"/>
            <a:ext cx="290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ស្រាវជ្រាវព័ត៌មានទាន់សម័យ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37560"/>
            <a:ext cx="4961992" cy="777240"/>
          </a:xfrm>
          <a:prstGeom prst="roundRect">
            <a:avLst>
              <a:gd name="adj" fmla="val 9412"/>
            </a:avLst>
          </a:prstGeom>
          <a:solidFill>
            <a:srgbClr val="F9FC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49758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009B4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4975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Claude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41448" y="3337560"/>
            <a:ext cx="290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អត្ថបទវែង និងការវិភាគស៊ីជម្រៅ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297680"/>
            <a:ext cx="4961992" cy="777240"/>
          </a:xfrm>
          <a:prstGeom prst="roundRect">
            <a:avLst>
              <a:gd name="adj" fmla="val 9412"/>
            </a:avLst>
          </a:prstGeom>
          <a:solidFill>
            <a:srgbClr val="F9FC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445770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F26522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4577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Gemini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41448" y="4297680"/>
            <a:ext cx="290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ស្រាវជ្រាវ និងពិនិត្យទិន្នន័យ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257800"/>
            <a:ext cx="4961992" cy="777240"/>
          </a:xfrm>
          <a:prstGeom prst="roundRect">
            <a:avLst>
              <a:gd name="adj" fmla="val 9412"/>
            </a:avLst>
          </a:prstGeom>
          <a:solidFill>
            <a:srgbClr val="F9FC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541782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009B4A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4178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Copilot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41448" y="5257800"/>
            <a:ext cx="290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ការងារក្នុងឯកសារ និងតារាង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Tools You Will Master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ឧបករណ៍ AI ដែលអ្នកនឹងស្ទាត់ជំនាញ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ChatGPT និង Claude ត្រូវបានប្រើសម្រាប់ការសរសេរ ការវិភាគ និងការរៀបចំឯកសារការងារប្រកបដោយគុណភាពវិជ្ជាជីវៈ។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Gemini និង Grok ជួយក្នុងការស្រាវជ្រាវព័ត៌មាន និងការពិនិត្យទិន្នន័យទីផ្សារបានយ៉ាងរហ័ស មុនពេលសម្រេចចិត្ត។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Copilot ជួយបង្កើនល្បឿនការងារក្នុងឯកសារ តារាងទិន្នន័យ និងបទបង្ហាញដែលក្រុមហ៊ុនប្រើប្រាស់ប្រចាំថ្ងៃ។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អ្នកចូលរួមនឹងរៀនជ្រើសរើសឧបករណ៍ឲ្យត្រូវនឹងប្រភេទការងារ ជំនួសឲ្យការប្រើឧបករណ៍តែមួយសម្រាប់គ្រប់កិច្ចការទាំងអស់។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គោលការណ៍ CTFR មូលដ្ឋានគ្រឹះនៃការប្រើ AI ប្រកបដោយប្រសិទ្ធភាព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62776" y="1417320"/>
            <a:ext cx="2352980" cy="2180844"/>
          </a:xfrm>
          <a:prstGeom prst="roundRect">
            <a:avLst>
              <a:gd name="adj" fmla="val 3354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27000" dist="25400" dir="5400000">
              <a:srgbClr val="9BB8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456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45656" y="2455164"/>
            <a:ext cx="198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បរិបទ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1787" y="1417320"/>
            <a:ext cx="2352980" cy="2180844"/>
          </a:xfrm>
          <a:prstGeom prst="roundRect">
            <a:avLst>
              <a:gd name="adj" fmla="val 3354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27000" dist="25400" dir="5400000">
              <a:srgbClr val="9BB8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54667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54667" y="2455164"/>
            <a:ext cx="198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កិច្ចការ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62776" y="3854196"/>
            <a:ext cx="2352980" cy="2180844"/>
          </a:xfrm>
          <a:prstGeom prst="roundRect">
            <a:avLst>
              <a:gd name="adj" fmla="val 3354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27000" dist="25400" dir="5400000">
              <a:srgbClr val="9BB8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45656" y="40370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45656" y="4892040"/>
            <a:ext cx="198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Format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ទម្រង់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71787" y="3854196"/>
            <a:ext cx="2352980" cy="2180844"/>
          </a:xfrm>
          <a:prstGeom prst="roundRect">
            <a:avLst>
              <a:gd name="adj" fmla="val 3354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27000" dist="25400" dir="5400000">
              <a:srgbClr val="9BB8A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54667" y="40370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>
                    <a:alpha val="7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54667" y="4892040"/>
            <a:ext cx="19872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Role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តួនាទី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CTFR Prompting Framework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គោលការណ៍សរសេរ Prompt តាមបែប CTFR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Context (បរិបទ) គឺជាការផ្ដល់ព័ត៌មានផ្ទៃខាងក្រោយអំពីក្រុមហ៊ុន ទីផ្សារ និងស្ថានភាពការងារ ដើម្បីឲ្យ AI យល់ច្បាស់មុននឹងឆ្លើយតប។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Task (កិច្ចការ) គឺជាការកំណត់ឲ្យបានច្បាស់នូវអ្វីដែលអ្នកចង់ឲ្យ AI ធ្វើ ដូចជាសរសេររបាយការណ៍ វិភាគទិន្នន័យ ឬរៀបចំផែនការ។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Format (ទម្រង់) គឺជាការបញ្ជាក់ពីរបៀបបង្ហាញលទ្ធផល ដូចជាតារាង ចំណុចសំខាន់ៗ អត្ថបទខ្លី ឬរបាយការណ៍ពេញលេញ។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Role (តួនាទី) គឺជាការកំណត់ឲ្យ AI ដើរតួជាអ្នកជំនាញ ដូចជាអ្នកវិភាគហិរញ្ញវត្ថុ ដើម្បីទទួលបានចម្លើយកម្រិតវិជ្ជាជីវៈ។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ម៉ូឌុលវគ្គពេលព្រឹក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84594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45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ការណែនាំ AI សម្រាប់កន្លែងធ្វើការ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100507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167781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677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2100507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បច្ចេកទេសសរសេរ Prompt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783695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850969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509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7008" y="2783695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បង្កើតស្លាយបទបង្ហាញជាមួយ AI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466882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534156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34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3466882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ធ្វើការស្រាវជ្រាវទីផ្សារជាមួយ AI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150070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217343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173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4150070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ការវិភាគ SWOT ជាមួយ AI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833257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900531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9005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4833257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CRM ជាមួយ AI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5516445"/>
            <a:ext cx="4961992" cy="518595"/>
          </a:xfrm>
          <a:prstGeom prst="roundRect">
            <a:avLst>
              <a:gd name="adj" fmla="val 12343"/>
            </a:avLst>
          </a:prstGeom>
          <a:solidFill>
            <a:srgbClr val="F9FC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583718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5837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5516445"/>
            <a:ext cx="4184752" cy="51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ការជ្រើសរើសបុគ្គលិកជាមួយ 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Morning Session: Modules 1 to 7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វគ្គពេលព្រឹក - ម៉ូឌុលទី ១ ដល់ ៧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វគ្គពេលព្រឹកចាប់ផ្ដើមដោយការណែនាំអំពី AI សម្រាប់កន្លែងធ្វើការ និងបច្ចេកទេសសរសេរ Prompt ដែលជាមូលដ្ឋានគ្រឹះសម្រាប់គ្រប់ម៉ូឌុលបន្តបន្ទាប់។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បន្ទាប់មកអ្នកចូលរួមអនុវត្តការបង្កើតស្លាយបទបង្ហាញ ការស្រាវជ្រាវទីផ្សារ និងការវិភាគ SWOT ដោយប្រើឧបករណ៍ AI ដោយផ្ទាល់។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វគ្គពេលព្រឹកបញ្ចប់ដោយម៉ូឌុល CRM និងការជ្រើសរើសបុគ្គលិក ដែលជាការងារប្រចាំថ្ងៃរបស់អ្នកគ្រប់គ្រងភាគច្រើននៅក្នុងក្រុមហ៊ុន។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ដំណើរការសិក្សាម៉ូឌុលទី ១ និង 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99936" y="169164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18808" y="169164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ស្គាល់ឧបករណ៍ AI សម្រាប់កន្លែងធ្វើការ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024899" y="278892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8" name="Shape 6"/>
          <p:cNvSpPr/>
          <p:nvPr/>
        </p:nvSpPr>
        <p:spPr>
          <a:xfrm>
            <a:off x="6799936" y="320040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18808" y="320040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រៀនសរសេរ Prompt តាមគោលការណ៍ CTFR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24899" y="429768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11" name="Shape 9"/>
          <p:cNvSpPr/>
          <p:nvPr/>
        </p:nvSpPr>
        <p:spPr>
          <a:xfrm>
            <a:off x="6799936" y="470916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18808" y="470916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អនុវត្តផ្ទាល់លើករណីការងារពិត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Modules 1 to 2: Getting Started with AI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១-២ - ការចាប់ផ្ដើមប្រើ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 ណែនាំពីឧបករណ៍ AI សំខាន់ៗសម្រាប់កន្លែងធ្វើការ ព្រមទាំងចំណុចខ្លាំង និងដែនកំណត់របស់ឧបករណ៍នីមួយៗ។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២ បង្រៀនពីបច្ចេកទេសសរសេរ Prompt ដោយប្រើគោលការណ៍ CTFR ដើម្បីទទួលបានចម្លើយត្រឹមត្រូវ និងអាចយកទៅប្រើបានភ្លាមៗ។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អ្នកចូលរួមអនុវត្តផ្ទាល់លើករណីការងារពិតរបស់ខ្លួន ដើម្បីមើលឃើញលទ្ធផលជាក់ស្ដែងតាំងពីម៉ោងដំបូងនៃវគ្គបណ្ដុះបណ្ដាល។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លទ្ធផលជាក់ស្ដែងពីម៉ូឌុលទី ៣ ដល់ 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" y="169164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ស្លាយបទបង្ហាញកម្រិតវិជ្ជាជីវៈ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9052" y="278892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" y="320040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0040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របាយការណ៍ស្រាវជ្រាវទីផ្សារ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9052" y="429768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470916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70916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តារាងវិភាគ SWOT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Modules 3 to 5: Presentations, Market Research, SWOT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៣-៥ - ស្លាយបទបង្ហាញ ការស្រាវជ្រាវទីផ្សារ និង SWOT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អ្នកចូលរួមរៀនបង្កើតស្លាយបទបង្ហាញកម្រិតវិជ្ជាជីវៈជាមួយ AI ចាប់ពីការរៀបចំគ្រោង រហូតដល់ការសរសេរខ្លឹមសារ និងការរចនា។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ម៉ូឌុលស្រាវជ្រាវទីផ្សារបង្ហាញពីវិធីប្រមូល និងវិភាគព័ត៌មានទីផ្សារបានលឿន និងត្រឹមត្រូវ ដើម្បីគាំទ្រការសម្រេចចិត្តអាជីវកម្ម។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ការវិភាគ SWOT ជាមួយ AI ជួយឲ្យអ្នកគ្រប់គ្រងមើលឃើញចំណុចខ្លាំង ចំណុចខ្សោយ ឱកាស និងហានិភ័យរបស់ក្រុមហ៊ុនយ៉ាងច្បាស់លាស់។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ការអនុវត្ត AI ក្នុងផ្នែក CRM និងធនធានមនុស្ស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62776" y="1924812"/>
            <a:ext cx="4961992" cy="1645920"/>
          </a:xfrm>
          <a:prstGeom prst="roundRect">
            <a:avLst>
              <a:gd name="adj" fmla="val 4444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37096" y="2180844"/>
            <a:ext cx="310896" cy="310896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7376008" y="2125980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CRM ជាមួយ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55384" y="2619756"/>
            <a:ext cx="437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គ្រប់គ្រងទំនាក់ទំនងអតិថិជន តាមដានការលក់ និងឆ្លើយតបអតិថិជនលឿន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62776" y="3881628"/>
            <a:ext cx="4961992" cy="1645920"/>
          </a:xfrm>
          <a:prstGeom prst="roundRect">
            <a:avLst>
              <a:gd name="adj" fmla="val 4444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37096" y="4137660"/>
            <a:ext cx="310896" cy="310896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7376008" y="4082796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ការជ្រើសរើសបុគ្គលិក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5384" y="4576572"/>
            <a:ext cx="437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សរសេរការផ្សាយជ្រើសរើស ពិនិត្យប្រវត្តិរូប និងរៀបចំសំណួរសម្ភាសន៍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Modules 6 to 7: CRM and Recruitment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៦-៧ - CRM និងការជ្រើសរើសបុគ្គលិក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៦ បង្ហាញពីវិធីប្រើ AI ក្នុងការគ្រប់គ្រងទំនាក់ទំនងអតិថិជន ដើម្បីតាមដានទិន្នន័យអតិថិជន និងឆ្លើយតបបានលឿនជាងមុន។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៧ បង្រៀនពីការប្រើ AI ជួយក្នុងដំណើរការជ្រើសរើសបុគ្គលិក ចាប់ពីការសរសេរការផ្សាយ រហូតដល់ការរៀបចំសំណួរសម្ភាសន៍។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ម៉ូឌុលទាំងពីរនេះផ្ដោតលើការងារប្រចាំថ្ងៃដែលអ្នកគ្រប់គ្រងត្រូវធ្វើញឹកញាប់បំផុត ដូច្នេះលទ្ធផលអាចយកទៅប្រើបានភ្លាមៗ។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ម៉ូឌុលវគ្គពេលរសៀល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81328"/>
            <a:ext cx="267919" cy="267919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0879" y="1417320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KPI ជាមួយ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886407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950415"/>
            <a:ext cx="267919" cy="267919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5041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0879" y="1886407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ការសរសេររបាយការណ៍ជាមួយ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55494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419502"/>
            <a:ext cx="267919" cy="267919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19502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0879" y="2355494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ការគ្រប់គ្រងគម្រោងជាមួយ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824582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888590"/>
            <a:ext cx="267919" cy="267919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88590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0879" y="2824582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ផែនការទីផ្សារជាមួយ 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293669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357677"/>
            <a:ext cx="267919" cy="267919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357677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0879" y="3293669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ផែនការលក់ជាមួយ 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62756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826764"/>
            <a:ext cx="267919" cy="267919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826764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0879" y="3762756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ផែនការថវិកាជាមួយ AI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231843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4295851"/>
            <a:ext cx="267919" cy="267919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295851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0879" y="4231843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របាយការណ៍ហិរញ្ញវត្ថុជាមួយ AI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700930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" y="4764938"/>
            <a:ext cx="267919" cy="267919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764938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0879" y="4700930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ការគ្រប់គ្រងហានិភ័យជាមួយ AI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5170018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" y="5234026"/>
            <a:ext cx="267919" cy="267919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234026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១៦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0879" y="5170018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ការដោះស្រាយបញ្ហាជាមួយ AI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5639105"/>
            <a:ext cx="4961992" cy="395935"/>
          </a:xfrm>
          <a:prstGeom prst="roundRect">
            <a:avLst>
              <a:gd name="adj" fmla="val 16166"/>
            </a:avLst>
          </a:prstGeom>
          <a:solidFill>
            <a:srgbClr val="F9FC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85800" y="5703113"/>
            <a:ext cx="267919" cy="267919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703113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១៧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90879" y="5639105"/>
            <a:ext cx="430088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ការសម្រេចចិត្តជាយុទ្ធសាស្ត្រជាមួយ AI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Afternoon Session: Modules 8 to 17</a:t>
            </a:r>
            <a:endParaRPr lang="en-US" sz="2300" dirty="0"/>
          </a:p>
        </p:txBody>
      </p:sp>
      <p:sp>
        <p:nvSpPr>
          <p:cNvPr id="46" name="Text 44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វគ្គពេលរសៀល - ម៉ូឌុលទី ៨ ដល់ ១៧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វគ្គពេលរសៀលផ្ដោតលើការគ្រប់គ្រងលទ្ធផលការងារ តាមរយៈម៉ូឌុល KPI ការសរសេររបាយការណ៍ និងការគ្រប់គ្រងគម្រោង។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បន្ទាប់មកអ្នកចូលរួមរៀនរៀបចំផែនការទីផ្សារ ផែនការលក់ ផែនការថវិកា និងរបាយការណ៍ហិរញ្ញវត្ថុដោយប្រើ AI ជាជំនួយ។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វគ្គបញ្ចប់ដោយម៉ូឌុលកម្រិតយុទ្ធសាស្ត្រ រួមមានការគ្រប់គ្រងហានិភ័យ ការដោះស្រាយបញ្ហា និងការសម្រេចចិត្តជាយុទ្ធសាស្ត្រ។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វដ្តគ្រប់គ្រងលទ្ធផលការងារ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99936" y="169164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18808" y="169164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កំណត់ និងតាមដាន KPI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024899" y="278892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8" name="Shape 6"/>
          <p:cNvSpPr/>
          <p:nvPr/>
        </p:nvSpPr>
        <p:spPr>
          <a:xfrm>
            <a:off x="6799936" y="320040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18808" y="320040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សរសេររបាយការណ៍លទ្ធផល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24899" y="429768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11" name="Shape 9"/>
          <p:cNvSpPr/>
          <p:nvPr/>
        </p:nvSpPr>
        <p:spPr>
          <a:xfrm>
            <a:off x="6799936" y="470916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18808" y="470916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គ្រប់គ្រងគម្រោងឲ្យទាន់ពេល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Modules 8 to 10: KPI, Reporting, Project Management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៨-១០ - KPI របាយការណ៍ និងការគ្រប់គ្រងគម្រោង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៨ បង្រៀនពីវិធីកំណត់ និងតាមដាន KPI ដោយប្រើ AI ដើម្បីវាស់វែងលទ្ធផលការងាររបស់ក្រុមបានច្បាស់លាស់។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៩ ជួយឲ្យអ្នកគ្រប់គ្រងសរសេររបាយការណ៍បានលឿន និងច្បាស់លាស់ ដោយមានរចនាសម្ព័ន្ធ និងភាសាកម្រិតវិជ្ជាជីវៈ។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១០ ផ្ដោតលើការគ្រប់គ្រងគម្រោងប្រកបដោយប្រសិទ្ធភាព រួមមានការរៀបចំកាលវិភាគ ការបែងចែកភារកិច្ច និងការតាមដានវឌ្ឍនភាព។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ពីផែនការទីផ្សារទៅផែនការលក់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24812"/>
            <a:ext cx="4961992" cy="1645920"/>
          </a:xfrm>
          <a:prstGeom prst="roundRect">
            <a:avLst>
              <a:gd name="adj" fmla="val 4444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80844"/>
            <a:ext cx="310896" cy="310896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25980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ផែនការទីផ្សារ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619756"/>
            <a:ext cx="437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កំណត់ក្រុមគោលដៅ សារផ្សព្វផ្សាយ ឆានែល និងថវិកាយុទ្ធនាការ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881628"/>
            <a:ext cx="4961992" cy="1645920"/>
          </a:xfrm>
          <a:prstGeom prst="roundRect">
            <a:avLst>
              <a:gd name="adj" fmla="val 4444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4137660"/>
            <a:ext cx="310896" cy="310896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082796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ផែនការលក់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" y="4576572"/>
            <a:ext cx="437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កំណត់គោលដៅលក់ ដំណើរការលក់ និងសកម្មភាពប្រចាំសប្ដាហ៍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Modules 11 to 12: Marketing and Sales Plans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១១-១២ - ផែនការទីផ្សារ និងផែនការលក់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១១ បង្រៀនពីការបង្កើតផែនការទីផ្សារជាមួយ AI ចាប់ពីការកំណត់ក្រុមគោលដៅ រហូតដល់ការរៀបចំសារផ្សព្វផ្សាយ និងឆានែល។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១២ ផ្ដោតលើការបង្កើតផែនការលក់ដែលអាចអនុវត្តបានពិតប្រាកដ ដោយមានគោលដៅច្បាស់លាស់ និងសកម្មភាពប្រចាំសប្ដាហ៍។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ផែនការទីផ្សារ និងផែនការលក់ត្រូវបានភ្ជាប់គ្នា ដើម្បីធានាថាសកម្មភាពផ្សព្វផ្សាយនាំមកនូវលទ្ធផលលក់ជាក់ស្ដែងសម្រាប់ក្រុមហ៊ុន។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ការគ្រប់គ្រងផ្នែកហិរញ្ញវត្ថុជាមួយ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62776" y="1924812"/>
            <a:ext cx="4961992" cy="1645920"/>
          </a:xfrm>
          <a:prstGeom prst="roundRect">
            <a:avLst>
              <a:gd name="adj" fmla="val 4444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37096" y="2180844"/>
            <a:ext cx="310896" cy="310896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7376008" y="2125980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ផែនការថវិកា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55384" y="2619756"/>
            <a:ext cx="437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រៀបចំថវិកាតាមផ្នែក ប៉ាន់ស្មានចំណាយ និងតាមដានការប្រើប្រាស់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62776" y="3881628"/>
            <a:ext cx="4961992" cy="1645920"/>
          </a:xfrm>
          <a:prstGeom prst="roundRect">
            <a:avLst>
              <a:gd name="adj" fmla="val 4444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37096" y="4137660"/>
            <a:ext cx="310896" cy="310896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7376008" y="4082796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របាយការណ៍ហិរញ្ញវត្ថុ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5384" y="4576572"/>
            <a:ext cx="4376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ចងក្រងរបាយការណ៍ សង្ខេបលទ្ធផល និងពន្យល់លេខសំខាន់ៗ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Modules 13 to 14: Budget and Financial Reports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១៣-១៤ - ផែនការថវិកា និងរបាយការណ៍ហិរញ្ញវត្ថុ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១៣ បង្ហាញពីវិធីរៀបចំផែនការថវិកាដោយប្រើ AI ជាជំនួយក្នុងការប៉ាន់ស្មានចំណាយ និងការបែងចែកធនធានតាមផ្នែក។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១៤ ជួយឲ្យអ្នកគ្រប់គ្រងចងក្រងរបាយការណ៍ហិរញ្ញវត្ថុបានលឿន និងត្រឹមត្រូវ ព្រមទាំងពន្យល់លេខសំខាន់ៗឲ្យអ្នកពាក់ព័ន្ធយល់ច្បាស់។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ការសម្រេចចិត្តចុងក្រោយនៅតែជាទំនួលខុសត្រូវរបស់អ្នកគ្រប់គ្រង ដោយ AI ដើរតួជាឧបករណ៍ជំនួយក្នុងការរៀបចំ និងពិនិត្យទិន្នន័យ។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ម៉ូឌុលកម្រិតយុទ្ធសាស្ត្រ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" y="169164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កំណត់ និងគ្រប់គ្រងហានិភ័យ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9052" y="278892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" y="320040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0040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ដោះស្រាយបញ្ហាការងារ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9052" y="429768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470916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70916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សម្រេចចិត្តជាយុទ្ធសាស្ត្រ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Modules 15 to 17: Risk, Problem Solving, Strategic Decisions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១៥-១៧ - ហានិភ័យ ការដោះស្រាយបញ្ហា និងការសម្រេចចិត្តយុទ្ធសាស្ត្រ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១៥ បង្រៀនពីការកំណត់ និងគ្រប់គ្រងហានិភ័យអាជីវកម្ម រួមទាំងការរៀបចំវិធានការការពារជាមុនសម្រាប់ក្រុមហ៊ុន។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១៦ ផ្ដោតលើការដោះស្រាយបញ្ហាការងារដោយប្រើ AI ជួយវិភាគមូលហេតុ និងស្នើដំណោះស្រាយជាជម្រើសច្រើន។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ម៉ូឌុលទី ១៧ គាំទ្រការសម្រេចចិត្តជាយុទ្ធសាស្ត្រ ដោយប្រៀបធៀបជម្រើសនីមួយៗ និងវាយតម្លៃផលប៉ះពាល់រយៈពេលវែងលើក្រុមហ៊ុន។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កាលវិភាគវគ្គបណ្ដុះបណ្ដាល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54216" y="3685032"/>
            <a:ext cx="4779112" cy="82296"/>
          </a:xfrm>
          <a:prstGeom prst="roundRect">
            <a:avLst>
              <a:gd name="adj" fmla="val 44444"/>
            </a:avLst>
          </a:prstGeom>
          <a:solidFill>
            <a:srgbClr val="D7E6DD"/>
          </a:solidFill>
          <a:ln/>
        </p:spPr>
      </p:sp>
      <p:sp>
        <p:nvSpPr>
          <p:cNvPr id="6" name="Shape 4"/>
          <p:cNvSpPr/>
          <p:nvPr/>
        </p:nvSpPr>
        <p:spPr>
          <a:xfrm>
            <a:off x="7349566" y="3525012"/>
            <a:ext cx="402336" cy="402336"/>
          </a:xfrm>
          <a:prstGeom prst="ellipse">
            <a:avLst/>
          </a:prstGeom>
          <a:solidFill>
            <a:srgbClr val="009B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54216" y="2354580"/>
            <a:ext cx="15930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៨:០០ - ១២:០០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54216" y="2766060"/>
            <a:ext cx="15930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វគ្គព្រឹក ម៉ូឌុលទី ១-៧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42603" y="3525012"/>
            <a:ext cx="402336" cy="402336"/>
          </a:xfrm>
          <a:prstGeom prst="ellipse">
            <a:avLst/>
          </a:prstGeom>
          <a:solidFill>
            <a:srgbClr val="F2652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7253" y="4110228"/>
            <a:ext cx="15930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522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១២:០០ - ១៣:០០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47253" y="4512564"/>
            <a:ext cx="15930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សម្រាកអាហារថ្ងៃត្រង់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35641" y="3525012"/>
            <a:ext cx="402336" cy="402336"/>
          </a:xfrm>
          <a:prstGeom prst="ellipse">
            <a:avLst/>
          </a:prstGeom>
          <a:solidFill>
            <a:srgbClr val="009B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0290" y="2354580"/>
            <a:ext cx="15930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១៣:០០ - ១៧:០០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40290" y="2766060"/>
            <a:ext cx="15930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វគ្គរសៀល ម៉ូឌុលទី ៨-១៧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Full-Day Schedule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កាលវិភាគពេញមួយថ្ងៃ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ចាប់ពីម៉ោង ៨:០០ ដល់ ១២:០០ ព្រឹក អ្នកចូលរួមសិក្សាម៉ូឌុលទី ១ ដល់ ៧ ដែលផ្ដោតលើមូលដ្ឋានគ្រឹះ និងការងារប្រតិបត្តិការ។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ចាប់ពីម៉ោង ១២:០០ ដល់ ១៣:០០ ជាពេលសម្រាកអាហារថ្ងៃត្រង់ សម្រាប់សម្រាក និងបង្កើតបណ្ដាញទំនាក់ទំនងរវាងអ្នកចូលរួម។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ចាប់ពីម៉ោង ១៣:០០ ដល់ ១៧:០០ រសៀល អ្នកចូលរួមសិក្សាម៉ូឌុលទី ៨ ដល់ ១៧ ដែលផ្ដោតលើការគ្រប់គ្រង និងយុទ្ធសាស្ត្រ។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អត្ថប្រយោជន៍សំខាន់ៗចំនួនបួន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41932"/>
            <a:ext cx="4961992" cy="868680"/>
          </a:xfrm>
          <a:prstGeom prst="roundRect">
            <a:avLst>
              <a:gd name="adj" fmla="val 7368"/>
            </a:avLst>
          </a:prstGeom>
          <a:solidFill>
            <a:srgbClr val="F9FC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84248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741932"/>
            <a:ext cx="418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ការសម្រេចចិត្តលឿន និងមានគុណភាព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775204"/>
            <a:ext cx="4961992" cy="868680"/>
          </a:xfrm>
          <a:prstGeom prst="roundRect">
            <a:avLst>
              <a:gd name="adj" fmla="val 7368"/>
            </a:avLst>
          </a:prstGeom>
          <a:solidFill>
            <a:srgbClr val="F9FC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2775204"/>
            <a:ext cx="418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ផលិតភាពការងារកើនឡើង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808476"/>
            <a:ext cx="4961992" cy="868680"/>
          </a:xfrm>
          <a:prstGeom prst="roundRect">
            <a:avLst>
              <a:gd name="adj" fmla="val 7368"/>
            </a:avLst>
          </a:prstGeom>
          <a:solidFill>
            <a:srgbClr val="F9FC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7008" y="3808476"/>
            <a:ext cx="418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ការគ្រប់គ្រងផ្អែកលើទិន្នន័យ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841748"/>
            <a:ext cx="4961992" cy="868680"/>
          </a:xfrm>
          <a:prstGeom prst="roundRect">
            <a:avLst>
              <a:gd name="adj" fmla="val 7368"/>
            </a:avLst>
          </a:prstGeom>
          <a:solidFill>
            <a:srgbClr val="F9FC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5084064"/>
            <a:ext cx="384048" cy="38404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4841748"/>
            <a:ext cx="4184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សមត្ថភាពប្រកួតប្រជែងខ្ពស់ជាងមុន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Benefits for Your Organization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អត្ថប្រយោជន៍សំខាន់ៗសម្រាប់ក្រុមហ៊ុនអ្នក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35928" y="2231136"/>
            <a:ext cx="481568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ក្រុមហ៊ុនទទួលបានការសម្រេចចិត្តលឿន និងមានគុណភាពជាងមុន ព្រោះអ្នកគ្រប់គ្រងអាចវិភាគព័ត៌មានច្រើនក្នុងរយៈពេលខ្លី។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ផលិតភាពការងាររបស់អ្នកគ្រប់គ្រងកើនឡើង ដោយកាត់បន្ថយពេលវេលាចំណាយលើការសរសេរ ការរៀបចំឯកសារ និងការស្រាវជ្រាវ។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ការគ្រប់គ្រងផ្អែកលើទិន្នន័យកាន់តែច្បាស់លាស់ ជួយឲ្យថ្នាក់ដឹកនាំតាមដានលទ្ធផល និងកែតម្រូវផែនការបានទាន់ពេលវេលា។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ក្រុមហ៊ុនកាន់តែមានលក្ខណៈប្រកួតប្រជែងក្នុងយុគសម័យ AI ដោយមានក្រុមគ្រប់គ្រងដែលចេះប្រើឧបករណ៍ទំនើបប្រចាំថ្ងៃ។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6662776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ចំណុចខ្លាំងរបស់ AI For Business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62776" y="1417320"/>
            <a:ext cx="4961992" cy="1331976"/>
          </a:xfrm>
          <a:prstGeom prst="roundRect">
            <a:avLst>
              <a:gd name="adj" fmla="val 5492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37096" y="1673352"/>
            <a:ext cx="310896" cy="310896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7" name="Text 5"/>
          <p:cNvSpPr/>
          <p:nvPr/>
        </p:nvSpPr>
        <p:spPr>
          <a:xfrm>
            <a:off x="7376008" y="1618488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ឯកទេស AI គ្មានកូដ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55384" y="2112264"/>
            <a:ext cx="43767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បណ្ដុះបណ្ដាល AI សម្រាប់អាជីវកម្មដោយមិនចាំបាច់សរសេរកូដ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62776" y="3060192"/>
            <a:ext cx="4961992" cy="1331976"/>
          </a:xfrm>
          <a:prstGeom prst="roundRect">
            <a:avLst>
              <a:gd name="adj" fmla="val 5492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37096" y="3316224"/>
            <a:ext cx="310896" cy="310896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7376008" y="3261360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ស្ថាបនិកគំរូ CBMM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55384" y="3755136"/>
            <a:ext cx="43767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អ្នកបង្កើតគំរូ Cambodia Business Maturity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62776" y="4703064"/>
            <a:ext cx="4961992" cy="1331976"/>
          </a:xfrm>
          <a:prstGeom prst="roundRect">
            <a:avLst>
              <a:gd name="adj" fmla="val 5492"/>
            </a:avLst>
          </a:prstGeom>
          <a:solidFill>
            <a:srgbClr val="F9FCFA"/>
          </a:solidFill>
          <a:ln/>
          <a:effectLst>
            <a:outerShdw sx="100000" sy="100000" kx="0" ky="0" algn="bl" rotWithShape="0" blurRad="127000" dist="25400" dir="5400000">
              <a:srgbClr val="9BB8AA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37096" y="4959096"/>
            <a:ext cx="310896" cy="310896"/>
          </a:xfrm>
          <a:prstGeom prst="ellipse">
            <a:avLst/>
          </a:prstGeom>
          <a:solidFill>
            <a:srgbClr val="009B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76008" y="4904232"/>
            <a:ext cx="400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ទំនុកចិត្តពីទីផ្សារ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55384" y="5398008"/>
            <a:ext cx="43767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ទទួលទុកចិត្តពីអង្គភាព និងក្រុមហ៊ុនឈានមុខនៅកម្ពុជា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Choose AI For Business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40080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ហេតុអ្វីជ្រើសរើស AI For Business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2231136"/>
            <a:ext cx="2307260" cy="1051560"/>
          </a:xfrm>
          <a:prstGeom prst="roundRect">
            <a:avLst>
              <a:gd name="adj" fmla="val 7826"/>
            </a:avLst>
          </a:prstGeom>
          <a:solidFill>
            <a:srgbClr val="F9FC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40864"/>
            <a:ext cx="23072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២០២៣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" y="2852928"/>
            <a:ext cx="21975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ឆ្នាំស្ថាបនា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48508" y="2231136"/>
            <a:ext cx="2307260" cy="1051560"/>
          </a:xfrm>
          <a:prstGeom prst="roundRect">
            <a:avLst>
              <a:gd name="adj" fmla="val 7826"/>
            </a:avLst>
          </a:prstGeom>
          <a:solidFill>
            <a:srgbClr val="F9FCFA"/>
          </a:solidFill>
          <a:ln/>
        </p:spPr>
      </p:sp>
      <p:sp>
        <p:nvSpPr>
          <p:cNvPr id="23" name="Text 21"/>
          <p:cNvSpPr/>
          <p:nvPr/>
        </p:nvSpPr>
        <p:spPr>
          <a:xfrm>
            <a:off x="3148508" y="2340864"/>
            <a:ext cx="23072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6522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CBMM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03372" y="2852928"/>
            <a:ext cx="21975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F6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គំរូវាយតម្លៃអាជីវកម្ម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557016"/>
            <a:ext cx="481568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AI For Business ជាក្រុមហ៊ុនឯកទេសបណ្ដុះបណ្ដាល AI បែបគ្មានកូដ ស្ថាបនាឆ្នាំ ២០២៣ ដោយផ្ដោតលើតម្រូវការជាក់ស្ដែងរបស់អាជីវកម្ម។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ក្រុមហ៊ុនជាអ្នកបង្កើតគំរូ Cambodia Business Maturity Model (CBMM) សម្រាប់វាយតម្លៃកម្រិតភាពចាស់ទុំនៃអាជីវកម្មនៅកម្ពុជា។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វគ្គបណ្ដុះបណ្ដាលរបស់យើងទទួលទុកចិត្តពីអង្គភាព និងក្រុមហ៊ុនឈានមុខនៅកម្ពុជា ក្នុងវិស័យផ្សេងៗគ្នាជាច្រើន។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DF3E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66928"/>
            <a:ext cx="496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2382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ជំហានឆ្ពោះទៅរកវគ្គបណ្ដុះបណ្ដាល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" y="169164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ទាក់ទងមកកាន់ AI For Business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9052" y="278892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" y="320040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20040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ពិភាក្សាតម្រូវការក្រុមហ៊ុន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9052" y="4297680"/>
            <a:ext cx="237744" cy="365760"/>
          </a:xfrm>
          <a:prstGeom prst="downArrow">
            <a:avLst/>
          </a:prstGeom>
          <a:solidFill>
            <a:srgbClr val="4F6F60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4709160"/>
            <a:ext cx="4687672" cy="1051560"/>
          </a:xfrm>
          <a:prstGeom prst="roundRect">
            <a:avLst>
              <a:gd name="adj" fmla="val 7826"/>
            </a:avLst>
          </a:prstGeom>
          <a:solidFill>
            <a:srgbClr val="009B4A"/>
          </a:solidFill>
          <a:ln/>
          <a:effectLst>
            <a:outerShdw sx="100000" sy="100000" kx="0" ky="0" algn="bl" rotWithShape="0" blurRad="101600" dist="25400" dir="5400000">
              <a:srgbClr val="9BB8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709160"/>
            <a:ext cx="444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កំណត់កាលបរិច្ឆេទបណ្ដុះបណ្ដាល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35928" y="475488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238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35928" y="1371600"/>
            <a:ext cx="4815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9B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ជំហានបន្ទាប់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35928" y="2231136"/>
            <a:ext cx="481568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សូមទាក់ទងមកកាន់ AI For Business ដើម្បីកំណត់កាលបរិច្ឆេទបណ្ដុះបណ្ដាលសម្រាប់ក្រុមគ្រប់គ្រងរបស់ក្រុមហ៊ុនអ្នក។</a:t>
            </a:r>
            <a:endParaRPr lang="en-US" sz="1300" dirty="0"/>
          </a:p>
          <a:p>
            <a:pPr marL="228600" indent="-2286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F554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ក្រុមការងាររបស់យើងនឹងពិភាក្សាជាមួយអ្នកអំពីតម្រូវការជាក់ស្ដែង ដើម្បីរៀបចំខ្លឹមសារវគ្គឲ្យស្របនឹងការងាររបស់ក្រុមហ៊ុន។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35928" y="4956048"/>
            <a:ext cx="4815688" cy="1170432"/>
          </a:xfrm>
          <a:prstGeom prst="roundRect">
            <a:avLst>
              <a:gd name="adj" fmla="val 7031"/>
            </a:avLst>
          </a:prstGeom>
          <a:solidFill>
            <a:srgbClr val="F26522"/>
          </a:solidFill>
          <a:ln/>
          <a:effectLst>
            <a:outerShdw sx="100000" sy="100000" kx="0" ky="0" algn="bl" rotWithShape="0" blurRad="127000" dist="38100" dir="5400000">
              <a:srgbClr val="9BB8AA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10248" y="5102352"/>
            <a:ext cx="426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ព័ត៌មានទំនាក់ទំនង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10248" y="5486400"/>
            <a:ext cx="426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[បំពេញលេខទូរស័ព្ទ អ៊ីមែល និងគេហទំព័រនៅទីនេះ]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B4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For Business</a:t>
            </a:r>
            <a:pPr indent="0" marL="0">
              <a:buNone/>
            </a:pPr>
            <a:r>
              <a:rPr lang="en-US" sz="900" dirty="0">
                <a:solidFill>
                  <a:srgbClr val="4F6F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|   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AI For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Management: Corporate AI Training Program</dc:title>
  <dc:subject>PptxGenJS Presentation</dc:subject>
  <dc:creator>AI For Business</dc:creator>
  <cp:lastModifiedBy>AI For Business</cp:lastModifiedBy>
  <cp:revision>1</cp:revision>
  <dcterms:created xsi:type="dcterms:W3CDTF">2026-08-04T17:17:16Z</dcterms:created>
  <dcterms:modified xsi:type="dcterms:W3CDTF">2026-08-04T17:17:16Z</dcterms:modified>
</cp:coreProperties>
</file>